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inzel Decorative" charset="1" panose="00000500000000000000"/>
      <p:regular r:id="rId13"/>
    </p:embeddedFont>
    <p:embeddedFont>
      <p:font typeface="Quicksand" charset="1" panose="00000000000000000000"/>
      <p:regular r:id="rId14"/>
    </p:embeddedFont>
    <p:embeddedFont>
      <p:font typeface="Quicksand Bold" charset="1" panose="00000000000000000000"/>
      <p:regular r:id="rId15"/>
    </p:embeddedFont>
    <p:embeddedFont>
      <p:font typeface="Arial" charset="1" panose="020B0604020202020204"/>
      <p:regular r:id="rId16"/>
    </p:embeddedFont>
    <p:embeddedFont>
      <p:font typeface="Cormorant Garamond Bold Italics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60749"/>
            <a:ext cx="16229942" cy="276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9"/>
              </a:lnSpc>
              <a:spcBef>
                <a:spcPct val="0"/>
              </a:spcBef>
            </a:pPr>
            <a:r>
              <a:rPr lang="en-US" sz="16078">
                <a:solidFill>
                  <a:srgbClr val="0F4662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Task 4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908475"/>
            <a:ext cx="12812922" cy="8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Communicating Insights and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49752" y="7032069"/>
            <a:ext cx="6988496" cy="52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09 December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92743" y="2415720"/>
            <a:ext cx="13131985" cy="108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7"/>
              </a:lnSpc>
            </a:pPr>
            <a:r>
              <a:rPr lang="en-US" sz="3141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Visualisation</a:t>
            </a: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-Empowering Business with Effective Insights</a:t>
            </a:r>
          </a:p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3815" y="1684924"/>
            <a:ext cx="14720371" cy="8382798"/>
          </a:xfrm>
          <a:custGeom>
            <a:avLst/>
            <a:gdLst/>
            <a:ahLst/>
            <a:cxnLst/>
            <a:rect r="r" b="b" t="t" l="l"/>
            <a:pathLst>
              <a:path h="8382798" w="14720371">
                <a:moveTo>
                  <a:pt x="0" y="0"/>
                </a:moveTo>
                <a:lnTo>
                  <a:pt x="14720370" y="0"/>
                </a:lnTo>
                <a:lnTo>
                  <a:pt x="14720370" y="8382798"/>
                </a:lnTo>
                <a:lnTo>
                  <a:pt x="0" y="8382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23" r="0" b="-1044"/>
            </a:stretch>
          </a:blipFill>
          <a:ln w="38100" cap="sq">
            <a:solidFill>
              <a:srgbClr val="BCE4D8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390842"/>
            <a:ext cx="11537525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Dashboard Preview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67130" y="2345812"/>
            <a:ext cx="10123494" cy="5611225"/>
          </a:xfrm>
          <a:custGeom>
            <a:avLst/>
            <a:gdLst/>
            <a:ahLst/>
            <a:cxnLst/>
            <a:rect r="r" b="b" t="t" l="l"/>
            <a:pathLst>
              <a:path h="5611225" w="10123494">
                <a:moveTo>
                  <a:pt x="0" y="0"/>
                </a:moveTo>
                <a:lnTo>
                  <a:pt x="10123494" y="0"/>
                </a:lnTo>
                <a:lnTo>
                  <a:pt x="10123494" y="5611225"/>
                </a:lnTo>
                <a:lnTo>
                  <a:pt x="0" y="5611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1609"/>
            <a:ext cx="9390243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Revenue trend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86084"/>
            <a:ext cx="5712374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first eight months show steady revenue, averaging about $685K. Starting in September, sales rise sharply and peak at $1.5M in November. December data is incomplete, but it’s clear that the last four months of the year are strongly seasonal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5123" y="4282397"/>
            <a:ext cx="15924177" cy="4944693"/>
            <a:chOff x="0" y="0"/>
            <a:chExt cx="4194022" cy="13023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4022" cy="1302306"/>
            </a:xfrm>
            <a:custGeom>
              <a:avLst/>
              <a:gdLst/>
              <a:ahLst/>
              <a:cxnLst/>
              <a:rect r="r" b="b" t="t" l="l"/>
              <a:pathLst>
                <a:path h="1302306" w="4194022">
                  <a:moveTo>
                    <a:pt x="24795" y="0"/>
                  </a:moveTo>
                  <a:lnTo>
                    <a:pt x="4169227" y="0"/>
                  </a:lnTo>
                  <a:cubicBezTo>
                    <a:pt x="4175803" y="0"/>
                    <a:pt x="4182110" y="2612"/>
                    <a:pt x="4186760" y="7262"/>
                  </a:cubicBezTo>
                  <a:cubicBezTo>
                    <a:pt x="4191410" y="11912"/>
                    <a:pt x="4194022" y="18219"/>
                    <a:pt x="4194022" y="24795"/>
                  </a:cubicBezTo>
                  <a:lnTo>
                    <a:pt x="4194022" y="1277511"/>
                  </a:lnTo>
                  <a:cubicBezTo>
                    <a:pt x="4194022" y="1284087"/>
                    <a:pt x="4191410" y="1290394"/>
                    <a:pt x="4186760" y="1295044"/>
                  </a:cubicBezTo>
                  <a:cubicBezTo>
                    <a:pt x="4182110" y="1299694"/>
                    <a:pt x="4175803" y="1302306"/>
                    <a:pt x="4169227" y="1302306"/>
                  </a:cubicBezTo>
                  <a:lnTo>
                    <a:pt x="24795" y="1302306"/>
                  </a:lnTo>
                  <a:cubicBezTo>
                    <a:pt x="18219" y="1302306"/>
                    <a:pt x="11912" y="1299694"/>
                    <a:pt x="7262" y="1295044"/>
                  </a:cubicBezTo>
                  <a:cubicBezTo>
                    <a:pt x="2612" y="1290394"/>
                    <a:pt x="0" y="1284087"/>
                    <a:pt x="0" y="1277511"/>
                  </a:cubicBezTo>
                  <a:lnTo>
                    <a:pt x="0" y="24795"/>
                  </a:lnTo>
                  <a:cubicBezTo>
                    <a:pt x="0" y="18219"/>
                    <a:pt x="2612" y="11912"/>
                    <a:pt x="7262" y="7262"/>
                  </a:cubicBezTo>
                  <a:cubicBezTo>
                    <a:pt x="11912" y="2612"/>
                    <a:pt x="18219" y="0"/>
                    <a:pt x="247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194022" cy="1426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4692" y="4497395"/>
            <a:ext cx="15550313" cy="4674561"/>
          </a:xfrm>
          <a:custGeom>
            <a:avLst/>
            <a:gdLst/>
            <a:ahLst/>
            <a:cxnLst/>
            <a:rect r="r" b="b" t="t" l="l"/>
            <a:pathLst>
              <a:path h="4674561" w="15550313">
                <a:moveTo>
                  <a:pt x="0" y="0"/>
                </a:moveTo>
                <a:lnTo>
                  <a:pt x="15550313" y="0"/>
                </a:lnTo>
                <a:lnTo>
                  <a:pt x="15550313" y="4674562"/>
                </a:lnTo>
                <a:lnTo>
                  <a:pt x="0" y="4674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61609"/>
            <a:ext cx="10326591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Rankings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11297"/>
            <a:ext cx="1623060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second chart shows the top ten growth-potential countries, excluding the UK. The Netherlands, Ireland, Germany, and France show strong unit sales and revenue. Focusing on these markets would help capture more demand.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99779" y="1684924"/>
            <a:ext cx="7359521" cy="7573376"/>
            <a:chOff x="0" y="0"/>
            <a:chExt cx="9812694" cy="10097834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1234" t="0" r="1234" b="0"/>
            <a:stretch>
              <a:fillRect/>
            </a:stretch>
          </p:blipFill>
          <p:spPr>
            <a:xfrm flipH="false" flipV="false">
              <a:off x="0" y="0"/>
              <a:ext cx="9812694" cy="10097834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36708"/>
            <a:ext cx="9390243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Top 10 customers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96780"/>
            <a:ext cx="6938067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third analysis looks at the customers who purchased the most. The differences among the top 10 are small. The highest-spending customer only purchased 17% more than the second. This suggests the business isn’t dependent on a small group of buyers and that customer bargaining power is limited.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3322" y="0"/>
            <a:ext cx="8004678" cy="10287000"/>
            <a:chOff x="0" y="0"/>
            <a:chExt cx="210822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822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8228">
                  <a:moveTo>
                    <a:pt x="0" y="0"/>
                  </a:moveTo>
                  <a:lnTo>
                    <a:pt x="2108228" y="0"/>
                  </a:lnTo>
                  <a:lnTo>
                    <a:pt x="210822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08228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449761" y="2670126"/>
            <a:ext cx="9351023" cy="5727501"/>
          </a:xfrm>
          <a:custGeom>
            <a:avLst/>
            <a:gdLst/>
            <a:ahLst/>
            <a:cxnLst/>
            <a:rect r="r" b="b" t="t" l="l"/>
            <a:pathLst>
              <a:path h="5727501" w="9351023">
                <a:moveTo>
                  <a:pt x="0" y="0"/>
                </a:moveTo>
                <a:lnTo>
                  <a:pt x="9351022" y="0"/>
                </a:lnTo>
                <a:lnTo>
                  <a:pt x="9351022" y="5727501"/>
                </a:lnTo>
                <a:lnTo>
                  <a:pt x="0" y="5727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2573" y="561609"/>
            <a:ext cx="9480749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Geographic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013403"/>
            <a:ext cx="6769403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map highlights high-revenue regions such as the Netherlands, Ireland, Germany, France, and Australia. Demand is low in Africa, Asia, Russia, and parts of the Americas. A targeted strategy in these a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reas could help increase sales and profitability.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DAG7A3uKWzw</dc:identifier>
  <dcterms:modified xsi:type="dcterms:W3CDTF">2011-08-01T06:04:30Z</dcterms:modified>
  <cp:revision>1</cp:revision>
  <dc:title>Task 4</dc:title>
</cp:coreProperties>
</file>